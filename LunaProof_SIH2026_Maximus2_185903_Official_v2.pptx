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1600"/>
            </a:pPr>
            <a:r>
              <a:t>Problem Statement ID: SIH26166</a:t>
            </a:r>
            <a:endParaRPr lang="en-US" dirty="0"/>
          </a:p>
          <a:p>
            <a:pPr>
              <a:defRPr sz="1400"/>
            </a:pPr>
            <a:r>
              <a:t>Problem Statement Title: Lunar Image Registration Under Extreme Illumination Variations</a:t>
            </a:r>
          </a:p>
          <a:p>
            <a:pPr>
              <a:defRPr sz="1400"/>
            </a:pPr>
            <a:r>
              <a:t>Theme: Space Technology  |  PS Category: Software</a:t>
            </a:r>
          </a:p>
          <a:p>
            <a:pPr>
              <a:defRPr b="1" sz="1600"/>
            </a:pPr>
            <a:r>
              <a:t>Team ID: 185903  |  Team Name: Maximus2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LunaProof: Multi-Modal Illumination-Invariant Lunar Image Registration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b="1" sz="1600"/>
            </a:pPr>
            <a:r>
              <a:t>Proposed Solution &amp; Mission-Grade Innovation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300"/>
            </a:pPr>
            <a:r>
              <a:t>• Physics-Based Lunar Rendering: Lommel-Seeliger scattering + ray-marched cast shadows for true illumination modeling.</a:t>
            </a:r>
          </a:p>
          <a:p>
            <a:pPr>
              <a:defRPr sz="1300"/>
            </a:pPr>
            <a:r>
              <a:t>• Illumination-Invariant Phase Congruency: Kovesi log-Gabor filters extract edge structures invariant to sun-angle flips.</a:t>
            </a:r>
          </a:p>
          <a:p>
            <a:pPr>
              <a:defRPr sz="1300"/>
            </a:pPr>
            <a:r>
              <a:t>• Multi-Matcher Framework: Benchmarking SIFT, PC-SIFT, LoFTR (zero-shot), and custom PatchNet descriptors.</a:t>
            </a:r>
          </a:p>
          <a:p>
            <a:pPr>
              <a:defRPr sz="1300"/>
            </a:pPr>
            <a:r>
              <a:t>• Ground-Truth Checkpoint Metrology: Measures sub-pixel error against exact ground truth at held-out checkpoints (not fitted matches).</a:t>
            </a:r>
          </a:p>
          <a:p>
            <a:pPr>
              <a:defRPr sz="1300"/>
            </a:pPr>
            <a:r>
              <a:t>• Autonomous Refusal Gate: Observes match count, inlier ratio, and spatial coverage to refuse un-reliable registrations.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Maximus2 (185903)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b="1" sz="1600"/>
            </a:pPr>
            <a:r>
              <a:t>Technical Architecture &amp; Pipeline</a:t>
            </a:r>
          </a:p>
          <a:p>
            <a:pPr>
              <a:defRPr sz="1200"/>
            </a:pPr>
            <a:r>
              <a:t>• Tech Stack: Python, PyTorch, OpenCV, NumPy, SciPy, Kornia, Google Colab, GitHub.</a:t>
            </a:r>
          </a:p>
          <a:p>
            <a:pPr>
              <a:defRPr sz="1200"/>
            </a:pPr>
            <a:r>
              <a:t>• Dataset: NASA LRO LOLA LDEM_64 elevation tiles (64 PPD, ~474 m/px) split strictly by lunar region.</a:t>
            </a:r>
          </a:p>
          <a:p>
            <a:pPr>
              <a:defRPr sz="1200"/>
            </a:pPr>
            <a:r>
              <a:t>• Pipeline: DEM Tile -&gt; Lommel-Seeliger + Cast Shadows -&gt; Log-Gabor Phase Map -&gt; Feature Matcher -&gt; MAGSAC++ -&gt; Refusal Gate.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Maximus2 (185903)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flow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76809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/>
            </a:pPr>
            <a:r>
              <a:t>Rigorous Held-Out Benchmark &amp; Competitive Contrast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150"/>
            </a:pPr>
            <a:r>
              <a:t>• Full Sun-Angle Sweep (0°–180°): Unlike single-orbit demos (0.76° delta), we benchmark across 15 non-overlapping regions (112 test pairs).</a:t>
            </a:r>
          </a:p>
          <a:p>
            <a:pPr>
              <a:defRPr sz="1150"/>
            </a:pPr>
            <a:r>
              <a:t>• SIFT Baseline: Measured 28.6% overall success rate (0.0% at 180° sun gap).</a:t>
            </a:r>
          </a:p>
          <a:p>
            <a:pPr>
              <a:defRPr sz="1150"/>
            </a:pPr>
            <a:r>
              <a:t>• Phase-Congruency SIFT: Measured 88.4% overall success rate (100.0% at 180° sun gap).</a:t>
            </a:r>
          </a:p>
          <a:p>
            <a:pPr>
              <a:defRPr sz="1150"/>
            </a:pPr>
            <a:r>
              <a:t>• LoFTR (Zero-Shot): Measured 73.2% overall success rate.</a:t>
            </a:r>
          </a:p>
          <a:p>
            <a:pPr>
              <a:defRPr sz="1150"/>
            </a:pPr>
            <a:r>
              <a:t>• Learned PatchNet Descriptor: Measured 98.2% overall success rate in our held-out test.</a:t>
            </a:r>
          </a:p>
          <a:p>
            <a:pPr>
              <a:defRPr sz="1150"/>
            </a:pPr>
            <a:r>
              <a:t>• Mission-Grade Refusal Gate: Accepted pairs were correct 93.6% of the time, automatically rejecting degraded inputs.</a:t>
            </a:r>
          </a:p>
          <a:p>
            <a:pPr>
              <a:defRPr sz="1150"/>
            </a:pPr>
            <a:r>
              <a:t>• Honest Failure Analysis: Under sun gaps ≥ 60°, SIFT drops to 0.0%. Median error showcase: 0.685 px.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Maximus2 (185903)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/>
            </a:pPr>
            <a:r>
              <a:t>ISRO Mission Impact &amp; Multi-Scale Roadmap</a:t>
            </a:r>
          </a:p>
          <a:p>
            <a:pPr>
              <a:defRPr sz="1300"/>
            </a:pPr>
            <a:r>
              <a:t>• Multi-Modal Co-Registration: Enables robust registration between Chandrayaan-2 OHRC (0.25m), TMC-2 (5m), and IIRS (~80m).</a:t>
            </a:r>
          </a:p>
          <a:p>
            <a:pPr>
              <a:defRPr sz="1300"/>
            </a:pPr>
            <a:r>
              <a:t>• Safety-Critical Refusal: Prevents corrupted GIS mapping by automatically rejecting ill-conditioned feature matches.</a:t>
            </a:r>
          </a:p>
          <a:p>
            <a:pPr>
              <a:defRPr sz="1300"/>
            </a:pPr>
            <a:r>
              <a:t>• Scale Cascade Roadmap: IIRS 80m -&gt; TMC-2 5m -&gt; LRO NAC 1m -&gt; OHRC 0.25m (hop ratios 16x, 5x, 4x).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Maximus2 (185903)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flow_casc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731520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b="1" sz="1600"/>
            </a:pPr>
            <a:r>
              <a:t>Primary Research Citations &amp; Repository</a:t>
            </a:r>
          </a:p>
          <a:p>
            <a:pPr>
              <a:defRPr sz="1200"/>
            </a:pPr>
            <a:r>
              <a:t>• Kovesi, P. (1999). Image Features from Phase Congruency. Videre: J. Comput. Vis. Res., 1(3), 1-26.</a:t>
            </a:r>
          </a:p>
          <a:p>
            <a:pPr>
              <a:defRPr sz="1200"/>
            </a:pPr>
            <a:r>
              <a:t>• Sun, J., et al. (2021). LoFTR: Detector-Free Local Feature Matching with Transformers. CVPR 2021.</a:t>
            </a:r>
          </a:p>
          <a:p>
            <a:pPr>
              <a:defRPr sz="1200"/>
            </a:pPr>
            <a:r>
              <a:t>• Baranjague et al. (2020). USAC: A Universal Framework for Random Sample Consensus. IEEE TPAMI.</a:t>
            </a:r>
          </a:p>
          <a:p>
            <a:pPr>
              <a:defRPr sz="1200"/>
            </a:pPr>
            <a:r>
              <a:t>• NASA LRO LOLA LDEM_64 Global Lunar Digital Elevation Model (NASA PDS Geosciences Node).</a:t>
            </a:r>
          </a:p>
          <a:p>
            <a:pPr>
              <a:defRPr sz="1200"/>
            </a:pPr>
            <a:r>
              <a:t>• ISRO Chandrayaan-2 OHRC, TMC-2 &amp; IIRS Payload Specifications.</a:t>
            </a:r>
          </a:p>
          <a:p>
            <a:pPr>
              <a:defRPr sz="1200"/>
            </a:pPr>
            <a:r>
              <a:t>• GitHub Repository &amp; Executable Notebook: github.com/pintocyrus/LunaProof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600"/>
            </a:pPr>
            <a:r>
              <a:t>Primary Research Citations &amp; Repository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defRPr sz="1200"/>
            </a:pPr>
            <a:r>
              <a:t>• Kovesi, P. (1999). Image Features from Phase Congruency. Videre: J. Comput. Vis. Res., 1(3), 1-26.</a:t>
            </a:r>
          </a:p>
          <a:p>
            <a:pPr>
              <a:defRPr sz="1200"/>
            </a:pPr>
            <a:r>
              <a:t>• Sun, J., et al. (2021). LoFTR: Detector-Free Local Feature Matching with Transformers. CVPR 2021.</a:t>
            </a:r>
          </a:p>
          <a:p>
            <a:pPr>
              <a:defRPr sz="1200"/>
            </a:pPr>
            <a:r>
              <a:t>• Baranjague et al. (2020). USAC: A Universal Framework for Random Sample Consensus. IEEE TPAMI.</a:t>
            </a:r>
          </a:p>
          <a:p>
            <a:pPr>
              <a:defRPr sz="1200"/>
            </a:pPr>
            <a:r>
              <a:t>• NASA LRO LOLA LDEM_64 Global Lunar Digital Elevation Model (NASA PDS Geosciences Node).</a:t>
            </a:r>
          </a:p>
          <a:p>
            <a:pPr>
              <a:defRPr sz="1200"/>
            </a:pPr>
            <a:r>
              <a:t>• ISRO Chandrayaan-2 OHRC, TMC-2 &amp; IIRS Payload Specifications.</a:t>
            </a:r>
          </a:p>
          <a:p>
            <a:pPr>
              <a:defRPr sz="1200"/>
            </a:pPr>
            <a:r>
              <a:t>• GitHub Repository &amp; Executable Notebook: github.com/pintocyrus/LunaProof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Maximus2 (185903)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